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4ACFAC"/>
                </a:solidFill>
              </a:defRPr>
            </a:pPr>
            <a:r>
              <a:t>COMPILER FOR A</a:t>
            </a:r>
          </a:p>
          <a:p>
            <a:pPr>
              <a:defRPr sz="3600" b="1">
                <a:solidFill>
                  <a:srgbClr val="ECF2F9"/>
                </a:solidFill>
              </a:defRPr>
            </a:pPr>
            <a:r>
              <a:t>Digital Circuit Description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30632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5B2C4"/>
                </a:solidFill>
              </a:defRPr>
            </a:pPr>
            <a:r>
              <a:t>Compiler Design Project • Review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4160520"/>
            <a:ext cx="7680960" cy="114300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4270248"/>
            <a:ext cx="73517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PROJECT IDEA</a:t>
            </a:r>
          </a:p>
          <a:p>
            <a:pPr>
              <a:spcBef>
                <a:spcPts val="500"/>
              </a:spcBef>
              <a:defRPr sz="1200">
                <a:solidFill>
                  <a:srgbClr val="ECF2F9"/>
                </a:solidFill>
              </a:defRPr>
            </a:pPr>
            <a:r>
              <a:t>A small domain-specific language (DCDL) for describing basic digital circuits, with a compiler pipeline for validation and structured representation.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5B2C4"/>
                </a:solidFill>
              </a:defRPr>
            </a:pPr>
            <a:r>
              <a:t>Why describe a circuit using a language?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29000" cy="182880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44168"/>
            <a:ext cx="30998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DIGITAL CIRCUITS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A combinational circuit can be described using input signals, logic gates, connections and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344168"/>
            <a:ext cx="30998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DCDL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DCDL is a project-defined, small domain-specific language intended to express those elements as readable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429000" cy="182880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344168"/>
            <a:ext cx="30998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COMPILER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The compiler reads DCDL source code and applies compiler phases to validate and transform the description.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CF2F9"/>
                </a:solidFill>
              </a:defRPr>
            </a:pPr>
            <a:r>
              <a:t>The project connects Compiler Design theory with a concrete digital-circuit domain.</a:t>
            </a:r>
          </a:p>
          <a:p>
            <a:pPr>
              <a:spcAft>
                <a:spcPts val="1000"/>
              </a:spcAft>
              <a:defRPr sz="1600">
                <a:solidFill>
                  <a:srgbClr val="ECF2F9"/>
                </a:solidFill>
              </a:defRPr>
            </a:pPr>
            <a:r>
              <a:t>The initial scope focuses on basic combinational logic rather than full hardware-description languages.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5B2C4"/>
                </a:solidFill>
              </a:defRPr>
            </a:pPr>
            <a:r>
              <a:t>The problem addressed by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257800" cy="2240280"/>
          </a:xfrm>
          <a:prstGeom prst="roundRect">
            <a:avLst/>
          </a:prstGeom>
          <a:solidFill>
            <a:srgbClr val="121B29"/>
          </a:solidFill>
          <a:ln>
            <a:solidFill>
              <a:srgbClr val="EB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44168"/>
            <a:ext cx="4928616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B6767"/>
                </a:solidFill>
              </a:defRPr>
            </a:pPr>
            <a:r>
              <a:t>CURRENT CHALLENGE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Graphical circuit construction can require manual placement and connection of components. General HDLs also introduce more concepts than needed for a small educational compiler project.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57800" cy="224028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344168"/>
            <a:ext cx="4928616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PROPOSED NEED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Define a compact textual notation in which users can declare inputs, create gates and specify outputs using a small set of clear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069080"/>
            <a:ext cx="8549640" cy="123444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93392" y="4178808"/>
            <a:ext cx="82204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PROBLEM STATEMENT</a:t>
            </a:r>
          </a:p>
          <a:p>
            <a:pPr>
              <a:spcBef>
                <a:spcPts val="500"/>
              </a:spcBef>
              <a:defRPr sz="1200">
                <a:solidFill>
                  <a:srgbClr val="ECF2F9"/>
                </a:solidFill>
              </a:defRPr>
            </a:pPr>
            <a:r>
              <a:t>How can a small domain-specific language represent basic digital circuits while a compiler automatically checks its lexical, syntactic and semantic correctness?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3. Motivation &amp;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CF2F9"/>
                </a:solidFill>
              </a:defRPr>
            </a:pPr>
            <a:r>
              <a:t>Demonstrates the complete idea of a domain-specific compiler on a manageable problem.</a:t>
            </a:r>
          </a:p>
          <a:p>
            <a:pPr>
              <a:spcAft>
                <a:spcPts val="1000"/>
              </a:spcAft>
              <a:defRPr sz="1600">
                <a:solidFill>
                  <a:srgbClr val="ECF2F9"/>
                </a:solidFill>
              </a:defRPr>
            </a:pPr>
            <a:r>
              <a:t>Provides a direct example of how source code can be transformed into structured information.</a:t>
            </a:r>
          </a:p>
          <a:p>
            <a:pPr>
              <a:spcAft>
                <a:spcPts val="1000"/>
              </a:spcAft>
              <a:defRPr sz="1600">
                <a:solidFill>
                  <a:srgbClr val="ECF2F9"/>
                </a:solidFill>
              </a:defRPr>
            </a:pPr>
            <a:r>
              <a:t>Separates syntax errors from semantic errors, making the compiler behavior easier to understand.</a:t>
            </a:r>
          </a:p>
          <a:p>
            <a:pPr>
              <a:spcAft>
                <a:spcPts val="1000"/>
              </a:spcAft>
              <a:defRPr sz="1600">
                <a:solidFill>
                  <a:srgbClr val="ECF2F9"/>
                </a:solidFill>
              </a:defRPr>
            </a:pPr>
            <a:r>
              <a:t>Creates a visual connection between a textual circuit description and its logical structure.</a:t>
            </a:r>
          </a:p>
          <a:p>
            <a:pPr>
              <a:spcAft>
                <a:spcPts val="1000"/>
              </a:spcAft>
              <a:defRPr sz="1600">
                <a:solidFill>
                  <a:srgbClr val="ECF2F9"/>
                </a:solidFill>
              </a:defRPr>
            </a:pPr>
            <a:r>
              <a:t>Provides a foundation that can later be extended with simulation, optimization or additional circuit constructs.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4.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5B2C4"/>
                </a:solidFill>
              </a:defRPr>
            </a:pPr>
            <a:r>
              <a:t>Specific outcomes planned for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29000" cy="141732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44168"/>
            <a:ext cx="30998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LANGUAGE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Define DCDL keywords, statement formats and grammar.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429000" cy="141732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344168"/>
            <a:ext cx="30998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LEXER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Convert source text into tokens such as keywords and identifiers.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429000" cy="141732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344168"/>
            <a:ext cx="30998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PARSER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Validate statement structure using the DCDL grammar.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71800"/>
            <a:ext cx="3429000" cy="141732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081528"/>
            <a:ext cx="30998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SEMANTIC CHECKS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Detect undefined references, duplicate names and invalid declarations.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971800"/>
            <a:ext cx="3429000" cy="141732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3081528"/>
            <a:ext cx="30998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IR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Represent inputs, gates and connections in a structured internal form.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971800"/>
            <a:ext cx="3429000" cy="141732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3081528"/>
            <a:ext cx="30998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OUTPUT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Produce a readable netlist / circuit representation for supported programs.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5. Scope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5B2C4"/>
                </a:solidFill>
              </a:defRPr>
            </a:pPr>
            <a:r>
              <a:t>Keeping the first version small and implementable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257800" cy="379476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44168"/>
            <a:ext cx="49286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IN SCOPE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• Input declarations</a:t>
            </a:r>
            <a:br/>
            <a:r>
              <a:t>• Basic combinational gates</a:t>
            </a:r>
            <a:br/>
            <a:r>
              <a:t>• Gate connections</a:t>
            </a:r>
            <a:br/>
            <a:r>
              <a:t>• Output declarations</a:t>
            </a:r>
            <a:br/>
            <a:r>
              <a:t>• Lexer + parser</a:t>
            </a:r>
            <a:br/>
            <a:r>
              <a:t>• Semantic validation</a:t>
            </a:r>
            <a:br/>
            <a:r>
              <a:t>• Internal circuit representation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57800" cy="3794760"/>
          </a:xfrm>
          <a:prstGeom prst="roundRect">
            <a:avLst/>
          </a:prstGeom>
          <a:solidFill>
            <a:srgbClr val="121B29"/>
          </a:solidFill>
          <a:ln>
            <a:solidFill>
              <a:srgbClr val="EB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344168"/>
            <a:ext cx="49286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B6767"/>
                </a:solidFill>
              </a:defRPr>
            </a:pPr>
            <a:r>
              <a:t>NOT CLAIMED IN V1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• Sequential circuits</a:t>
            </a:r>
            <a:br/>
            <a:r>
              <a:t>• Hardware synthesis</a:t>
            </a:r>
            <a:br/>
            <a:r>
              <a:t>• FPGA deployment</a:t>
            </a:r>
            <a:br/>
            <a:r>
              <a:t>• Full Verilog/VHDL compatibility</a:t>
            </a:r>
            <a:br/>
            <a:r>
              <a:t>• Physical circuit generation</a:t>
            </a:r>
            <a:br/>
            <a:r>
              <a:t>• Advanced circuit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6. DCDL Language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5B2C4"/>
                </a:solidFill>
              </a:defRPr>
            </a:pPr>
            <a:r>
              <a:t>Example syntax for the proposed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4343400" cy="4160520"/>
          </a:xfrm>
          <a:prstGeom prst="roundRect">
            <a:avLst/>
          </a:prstGeom>
          <a:solidFill>
            <a:srgbClr val="121B29"/>
          </a:solidFill>
          <a:ln>
            <a:solidFill>
              <a:srgbClr val="30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0744"/>
            <a:ext cx="3977639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ACFAC"/>
                </a:solidFill>
                <a:latin typeface="Consolas"/>
              </a:rPr>
              <a:t>INPUT A
INPUT B
INPUT C
AND G1 A B
OR G2 G1 C
NOT G3 G2
OUTPUT G3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234440"/>
            <a:ext cx="2743200" cy="109728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13831" y="1344168"/>
            <a:ext cx="24140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INPUT STATEMENT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INPUT &lt;signal&gt;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234440"/>
            <a:ext cx="3154680" cy="123444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1344168"/>
            <a:ext cx="28254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TWO-INPUT GATE</a:t>
            </a:r>
          </a:p>
          <a:p>
            <a:pPr>
              <a:spcBef>
                <a:spcPts val="500"/>
              </a:spcBef>
              <a:defRPr sz="1050">
                <a:solidFill>
                  <a:srgbClr val="ECF2F9"/>
                </a:solidFill>
              </a:defRPr>
            </a:pPr>
            <a:r>
              <a:t>&lt;GATE&gt; &lt;name&gt; &lt;in1&gt; &lt;in2&gt;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743200"/>
            <a:ext cx="2743200" cy="109728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3831" y="2852928"/>
            <a:ext cx="24140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NOT GATE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NOT &lt;name&gt; &lt;input&gt;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743200"/>
            <a:ext cx="3154680" cy="109728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852928"/>
            <a:ext cx="28254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OUTPUT STATEMENT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OUTPUT &lt;signal&gt;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251960"/>
            <a:ext cx="4434840" cy="100584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1" y="4361688"/>
            <a:ext cx="4105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INITIAL GATE SET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AND, OR, XOR, NAND, NOR, 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7.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5B2C4"/>
                </a:solidFill>
              </a:defRPr>
            </a:pPr>
            <a:r>
              <a:t>High-level components of the proposed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37560" cy="150876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3008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SOURCE EDITOR</a:t>
            </a:r>
          </a:p>
          <a:p>
            <a:pPr>
              <a:spcBef>
                <a:spcPts val="500"/>
              </a:spcBef>
              <a:defRPr sz="1050">
                <a:solidFill>
                  <a:srgbClr val="ECF2F9"/>
                </a:solidFill>
              </a:defRPr>
            </a:pPr>
            <a:r>
              <a:t>DCDL program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37560" cy="150876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435607"/>
            <a:ext cx="3008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LEXER</a:t>
            </a:r>
          </a:p>
          <a:p>
            <a:pPr>
              <a:spcBef>
                <a:spcPts val="500"/>
              </a:spcBef>
              <a:defRPr sz="1050">
                <a:solidFill>
                  <a:srgbClr val="ECF2F9"/>
                </a:solidFill>
              </a:defRPr>
            </a:pPr>
            <a:r>
              <a:t>Token stream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25880"/>
            <a:ext cx="3337560" cy="150876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435607"/>
            <a:ext cx="3008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PARSER</a:t>
            </a:r>
          </a:p>
          <a:p>
            <a:pPr>
              <a:spcBef>
                <a:spcPts val="500"/>
              </a:spcBef>
              <a:defRPr sz="1050">
                <a:solidFill>
                  <a:srgbClr val="ECF2F9"/>
                </a:solidFill>
              </a:defRPr>
            </a:pPr>
            <a:r>
              <a:t>Syntax tree / statements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3337560" cy="150876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3493008"/>
            <a:ext cx="3008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SEMANTIC ANALYZER</a:t>
            </a:r>
          </a:p>
          <a:p>
            <a:pPr>
              <a:spcBef>
                <a:spcPts val="500"/>
              </a:spcBef>
              <a:defRPr sz="1050">
                <a:solidFill>
                  <a:srgbClr val="ECF2F9"/>
                </a:solidFill>
              </a:defRPr>
            </a:pPr>
            <a:r>
              <a:t>Validated symbols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383280"/>
            <a:ext cx="3337560" cy="150876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3493008"/>
            <a:ext cx="3008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SYMBOL TABLE</a:t>
            </a:r>
          </a:p>
          <a:p>
            <a:pPr>
              <a:spcBef>
                <a:spcPts val="500"/>
              </a:spcBef>
              <a:defRPr sz="1050">
                <a:solidFill>
                  <a:srgbClr val="ECF2F9"/>
                </a:solidFill>
              </a:defRPr>
            </a:pPr>
            <a:r>
              <a:t>Known signals and gates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383280"/>
            <a:ext cx="3337560" cy="150876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3493008"/>
            <a:ext cx="30083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IR / GENERATOR</a:t>
            </a:r>
          </a:p>
          <a:p>
            <a:pPr>
              <a:spcBef>
                <a:spcPts val="500"/>
              </a:spcBef>
              <a:defRPr sz="1050">
                <a:solidFill>
                  <a:srgbClr val="ECF2F9"/>
                </a:solidFill>
              </a:defRPr>
            </a:pPr>
            <a:r>
              <a:t>Circuit representation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8. Compiler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5B2C4"/>
                </a:solidFill>
              </a:defRPr>
            </a:pPr>
            <a:r>
              <a:t>How one DCDL program moves through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664208" cy="155448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938528"/>
            <a:ext cx="13350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1  SOURCE</a:t>
            </a:r>
          </a:p>
          <a:p>
            <a:pPr>
              <a:spcBef>
                <a:spcPts val="500"/>
              </a:spcBef>
              <a:defRPr sz="980">
                <a:solidFill>
                  <a:srgbClr val="ECF2F9"/>
                </a:solidFill>
              </a:defRPr>
            </a:pPr>
            <a:r>
              <a:t>DCDL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828800"/>
            <a:ext cx="1664208" cy="155448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42032" y="1938528"/>
            <a:ext cx="13350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2  LEXER</a:t>
            </a:r>
          </a:p>
          <a:p>
            <a:pPr>
              <a:spcBef>
                <a:spcPts val="500"/>
              </a:spcBef>
              <a:defRPr sz="980">
                <a:solidFill>
                  <a:srgbClr val="ECF2F9"/>
                </a:solidFill>
              </a:defRPr>
            </a:pPr>
            <a:r>
              <a:t>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1664208" cy="155448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938528"/>
            <a:ext cx="13350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3  PARSER</a:t>
            </a:r>
          </a:p>
          <a:p>
            <a:pPr>
              <a:spcBef>
                <a:spcPts val="500"/>
              </a:spcBef>
              <a:defRPr sz="980">
                <a:solidFill>
                  <a:srgbClr val="ECF2F9"/>
                </a:solidFill>
              </a:defRPr>
            </a:pPr>
            <a:r>
              <a:t>Grammar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828800"/>
            <a:ext cx="1664208" cy="155448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1938528"/>
            <a:ext cx="13350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4  SEMANTIC</a:t>
            </a:r>
          </a:p>
          <a:p>
            <a:pPr>
              <a:spcBef>
                <a:spcPts val="500"/>
              </a:spcBef>
              <a:defRPr sz="980">
                <a:solidFill>
                  <a:srgbClr val="ECF2F9"/>
                </a:solidFill>
              </a:defRPr>
            </a:pPr>
            <a:r>
              <a:t>Meaning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19" y="1828800"/>
            <a:ext cx="1664208" cy="155448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1" y="1938528"/>
            <a:ext cx="13350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5  IR</a:t>
            </a:r>
          </a:p>
          <a:p>
            <a:pPr>
              <a:spcBef>
                <a:spcPts val="500"/>
              </a:spcBef>
              <a:defRPr sz="980">
                <a:solidFill>
                  <a:srgbClr val="ECF2F9"/>
                </a:solidFill>
              </a:defRPr>
            </a:pPr>
            <a:r>
              <a:t>Circuit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1828800"/>
            <a:ext cx="1664208" cy="155448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05872" y="1938528"/>
            <a:ext cx="13350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6  OUTPUT</a:t>
            </a:r>
          </a:p>
          <a:p>
            <a:pPr>
              <a:spcBef>
                <a:spcPts val="500"/>
              </a:spcBef>
              <a:defRPr sz="980">
                <a:solidFill>
                  <a:srgbClr val="ECF2F9"/>
                </a:solidFill>
              </a:defRPr>
            </a:pPr>
            <a:r>
              <a:t>Netlist /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9. Lexical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5B2C4"/>
                </a:solidFill>
              </a:defRPr>
            </a:pPr>
            <a:r>
              <a:t>First compiler phase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2468880" cy="182880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89888"/>
            <a:ext cx="21396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INPUT</a:t>
            </a:r>
          </a:p>
          <a:p>
            <a:pPr>
              <a:spcBef>
                <a:spcPts val="500"/>
              </a:spcBef>
              <a:defRPr sz="1300">
                <a:solidFill>
                  <a:srgbClr val="ECF2F9"/>
                </a:solidFill>
              </a:defRPr>
            </a:pPr>
            <a:r>
              <a:t>INPUT A</a:t>
            </a:r>
            <a:br/>
            <a:r>
              <a:t>AND G1 A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280160"/>
            <a:ext cx="3657600" cy="283464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1389888"/>
            <a:ext cx="33284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TOKENS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INPUT → KEYWORD</a:t>
            </a:r>
            <a:br/>
            <a:r>
              <a:t>A → IDENTIFIER</a:t>
            </a:r>
            <a:br/>
            <a:r>
              <a:t>AND → KEYWORD</a:t>
            </a:r>
            <a:br/>
            <a:r>
              <a:t>G1 → IDENTIFIER</a:t>
            </a:r>
            <a:br/>
            <a:r>
              <a:t>A → IDENTIFIER</a:t>
            </a:r>
            <a:br/>
            <a:r>
              <a:t>B → IDENTIFIER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280160"/>
            <a:ext cx="3840480" cy="192024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1389888"/>
            <a:ext cx="35112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Break source text into meaningful units so later phases do not have to work directly with raw characters.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520440"/>
            <a:ext cx="3840480" cy="114300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3630168"/>
            <a:ext cx="351129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EXAMPLE TOKEN TYPES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KEYWORD • IDENTIFIER • END-OF-LINE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10. Syntax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5B2C4"/>
                </a:solidFill>
              </a:defRPr>
            </a:pPr>
            <a:r>
              <a:t>Checking whether statements follow the grammar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023360" cy="3383280"/>
          </a:xfrm>
          <a:prstGeom prst="roundRect">
            <a:avLst/>
          </a:prstGeom>
          <a:solidFill>
            <a:srgbClr val="121B29"/>
          </a:solidFill>
          <a:ln>
            <a:solidFill>
              <a:srgbClr val="30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72184"/>
            <a:ext cx="36576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ACFAC"/>
                </a:solidFill>
                <a:latin typeface="Consolas"/>
              </a:rPr>
              <a:t>AND G1 A B      ✓
AND G1 A         ✗
OUTPUT G1       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325880"/>
            <a:ext cx="6172200" cy="182880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0952" y="1435607"/>
            <a:ext cx="58430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PARSER ROLE</a:t>
            </a:r>
          </a:p>
          <a:p>
            <a:pPr>
              <a:spcBef>
                <a:spcPts val="500"/>
              </a:spcBef>
              <a:defRPr sz="1150">
                <a:solidFill>
                  <a:srgbClr val="ECF2F9"/>
                </a:solidFill>
              </a:defRPr>
            </a:pPr>
            <a:r>
              <a:t>The parser consumes tokens and checks whether their order and count match the defined DCDL statement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3474720"/>
            <a:ext cx="6172200" cy="1508760"/>
          </a:xfrm>
          <a:prstGeom prst="roundRect">
            <a:avLst/>
          </a:prstGeom>
          <a:solidFill>
            <a:srgbClr val="121B29"/>
          </a:solidFill>
          <a:ln>
            <a:solidFill>
              <a:srgbClr val="EB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0952" y="3584448"/>
            <a:ext cx="5843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B6767"/>
                </a:solidFill>
              </a:defRPr>
            </a:pPr>
            <a:r>
              <a:t>EXAMPLE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A two-input gate requires a gate name and two input signals. Missing an input is a syntax error.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11. Semantic Analysis &amp; Symbol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5B2C4"/>
                </a:solidFill>
              </a:defRPr>
            </a:pPr>
            <a:r>
              <a:t>Checking whether a syntactically valid program makes sense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657600" cy="301752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44168"/>
            <a:ext cx="3328416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SYMBOL TABLE</a:t>
            </a:r>
          </a:p>
          <a:p>
            <a:pPr>
              <a:spcBef>
                <a:spcPts val="500"/>
              </a:spcBef>
              <a:defRPr sz="1200">
                <a:solidFill>
                  <a:srgbClr val="ECF2F9"/>
                </a:solidFill>
              </a:defRPr>
            </a:pPr>
            <a:r>
              <a:t>A = INPUT</a:t>
            </a:r>
            <a:br/>
            <a:r>
              <a:t>B = INPUT</a:t>
            </a:r>
            <a:br/>
            <a:r>
              <a:t>G1 = AND(A,B)</a:t>
            </a:r>
            <a:br/>
            <a:r>
              <a:t>G2 = NOT(G1)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234440"/>
            <a:ext cx="3200400" cy="3017520"/>
          </a:xfrm>
          <a:prstGeom prst="roundRect">
            <a:avLst/>
          </a:prstGeom>
          <a:solidFill>
            <a:srgbClr val="121B29"/>
          </a:solidFill>
          <a:ln>
            <a:solidFill>
              <a:srgbClr val="EB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82312" y="1344168"/>
            <a:ext cx="2871216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B6767"/>
                </a:solidFill>
              </a:defRPr>
            </a:pPr>
            <a:r>
              <a:t>UNDEFINED SIGNAL</a:t>
            </a:r>
          </a:p>
          <a:p>
            <a:pPr>
              <a:spcBef>
                <a:spcPts val="500"/>
              </a:spcBef>
              <a:defRPr sz="1080">
                <a:solidFill>
                  <a:srgbClr val="ECF2F9"/>
                </a:solidFill>
              </a:defRPr>
            </a:pPr>
            <a:r>
              <a:t>AND G1 A X</a:t>
            </a:r>
            <a:br/>
            <a:br/>
            <a:r>
              <a:t>If X has not been declared or created earlier:</a:t>
            </a:r>
            <a:br/>
            <a:r>
              <a:t>Semantic Error: undefined signal 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34440"/>
            <a:ext cx="3429000" cy="3017520"/>
          </a:xfrm>
          <a:prstGeom prst="roundRect">
            <a:avLst/>
          </a:prstGeom>
          <a:solidFill>
            <a:srgbClr val="121B29"/>
          </a:solidFill>
          <a:ln>
            <a:solidFill>
              <a:srgbClr val="EB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344168"/>
            <a:ext cx="3099816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B6767"/>
                </a:solidFill>
              </a:defRPr>
            </a:pPr>
            <a:r>
              <a:t>DUPLICATE NAME</a:t>
            </a:r>
          </a:p>
          <a:p>
            <a:pPr>
              <a:spcBef>
                <a:spcPts val="500"/>
              </a:spcBef>
              <a:defRPr sz="1080">
                <a:solidFill>
                  <a:srgbClr val="ECF2F9"/>
                </a:solidFill>
              </a:defRPr>
            </a:pPr>
            <a:r>
              <a:t>INPUT A</a:t>
            </a:r>
            <a:br/>
            <a:r>
              <a:t>INPUT A</a:t>
            </a:r>
            <a:br/>
            <a:br/>
            <a:r>
              <a:t>A second declaration can be reported as a duplicate-name error.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12. Intermediate Representation (IR)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5B2C4"/>
                </a:solidFill>
              </a:defRPr>
            </a:pPr>
            <a:r>
              <a:t>An internal form between source code and final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4663440" cy="3749039"/>
          </a:xfrm>
          <a:prstGeom prst="roundRect">
            <a:avLst/>
          </a:prstGeom>
          <a:solidFill>
            <a:srgbClr val="121B29"/>
          </a:solidFill>
          <a:ln>
            <a:solidFill>
              <a:srgbClr val="30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26463"/>
            <a:ext cx="4297679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ACFAC"/>
                </a:solidFill>
                <a:latin typeface="Consolas"/>
              </a:rPr>
              <a:t>INPUTS:
  A, B
GATES:
  G1 = AND(A, B)
  G2 = NOT(G1)
OUTPUT:
  G2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25880"/>
            <a:ext cx="5486400" cy="164592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25312" y="1435607"/>
            <a:ext cx="51572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WHY IR?</a:t>
            </a:r>
          </a:p>
          <a:p>
            <a:pPr>
              <a:spcBef>
                <a:spcPts val="500"/>
              </a:spcBef>
              <a:defRPr sz="1150">
                <a:solidFill>
                  <a:srgbClr val="ECF2F9"/>
                </a:solidFill>
              </a:defRPr>
            </a:pPr>
            <a:r>
              <a:t>The compiler can work with a structured model instead of repeatedly interpreting the original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3383280"/>
            <a:ext cx="5486400" cy="141732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25312" y="3493008"/>
            <a:ext cx="51572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BENEFIT</a:t>
            </a:r>
          </a:p>
          <a:p>
            <a:pPr>
              <a:spcBef>
                <a:spcPts val="500"/>
              </a:spcBef>
              <a:defRPr sz="1150">
                <a:solidFill>
                  <a:srgbClr val="ECF2F9"/>
                </a:solidFill>
              </a:defRPr>
            </a:pPr>
            <a:r>
              <a:t>The same internal model can be used to generate a netlist or a visual circuit representation.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13.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5B2C4"/>
                </a:solidFill>
              </a:defRPr>
            </a:pPr>
            <a:r>
              <a:t>Errors are reported according to the compiler phase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429000" cy="1645920"/>
          </a:xfrm>
          <a:prstGeom prst="roundRect">
            <a:avLst/>
          </a:prstGeom>
          <a:solidFill>
            <a:srgbClr val="121B29"/>
          </a:solidFill>
          <a:ln>
            <a:solidFill>
              <a:srgbClr val="EB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89888"/>
            <a:ext cx="30998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B6767"/>
                </a:solidFill>
              </a:defRPr>
            </a:pPr>
            <a:r>
              <a:t>LEXICAL ERROR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Unexpected character or unsupported token.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429000" cy="1645920"/>
          </a:xfrm>
          <a:prstGeom prst="roundRect">
            <a:avLst/>
          </a:prstGeom>
          <a:solidFill>
            <a:srgbClr val="121B29"/>
          </a:solidFill>
          <a:ln>
            <a:solidFill>
              <a:srgbClr val="EB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389888"/>
            <a:ext cx="30998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B6767"/>
                </a:solidFill>
              </a:defRPr>
            </a:pPr>
            <a:r>
              <a:t>SYNTAX ERROR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Statement does not match the DCDL grammar.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80160"/>
            <a:ext cx="3429000" cy="1645920"/>
          </a:xfrm>
          <a:prstGeom prst="roundRect">
            <a:avLst/>
          </a:prstGeom>
          <a:solidFill>
            <a:srgbClr val="121B29"/>
          </a:solidFill>
          <a:ln>
            <a:solidFill>
              <a:srgbClr val="EB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389888"/>
            <a:ext cx="30998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B6767"/>
                </a:solidFill>
              </a:defRPr>
            </a:pPr>
            <a:r>
              <a:t>SEMANTIC ERROR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Signal is undefined, duplicated or otherwise invalid.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520440"/>
            <a:ext cx="6675120" cy="160020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3630168"/>
            <a:ext cx="634593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DESIRED ERROR OUTPUT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Phase + message + relevant statement</a:t>
            </a:r>
            <a:br/>
            <a:br/>
            <a:r>
              <a:t>Example:</a:t>
            </a:r>
            <a:br/>
            <a:r>
              <a:t>Semantic Error: undefined signal 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14. Technology Stack &amp; Implementation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429000" cy="164592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389888"/>
            <a:ext cx="30998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PYTHON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Compiler engine: lexer, parser, semantic analysis and 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429000" cy="164592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389888"/>
            <a:ext cx="30998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FLASK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Lightweight web layer for the compiler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280160"/>
            <a:ext cx="3429000" cy="164592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1" y="1389888"/>
            <a:ext cx="30998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HTML / CSS / JS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Editor interface, result panels and circuit visualization.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3429000" cy="137160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584448"/>
            <a:ext cx="30998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PHASE 1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Language + grammar + lexer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474720"/>
            <a:ext cx="3429000" cy="137160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3584448"/>
            <a:ext cx="30998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PHASE 2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Parser + semantic validation + 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474720"/>
            <a:ext cx="3429000" cy="137160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3584448"/>
            <a:ext cx="30998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PHASE 3</a:t>
            </a:r>
          </a:p>
          <a:p>
            <a:pPr>
              <a:spcBef>
                <a:spcPts val="500"/>
              </a:spcBef>
              <a:defRPr sz="1100">
                <a:solidFill>
                  <a:srgbClr val="ECF2F9"/>
                </a:solidFill>
              </a:defRPr>
            </a:pPr>
            <a:r>
              <a:t>Web UI + circuit representation +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15. Review 1 Deliverables &amp; Expected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5B2C4"/>
                </a:solidFill>
              </a:defRPr>
            </a:pPr>
            <a:r>
              <a:t>What we plan to implement after the design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ECF2F9"/>
                </a:solidFill>
              </a:defRPr>
            </a:pPr>
            <a:r>
              <a:t>Finalize DCDL grammar and supported gate statements.</a:t>
            </a:r>
          </a:p>
          <a:p>
            <a:pPr>
              <a:spcAft>
                <a:spcPts val="1000"/>
              </a:spcAft>
              <a:defRPr sz="1550">
                <a:solidFill>
                  <a:srgbClr val="ECF2F9"/>
                </a:solidFill>
              </a:defRPr>
            </a:pPr>
            <a:r>
              <a:t>Implement and test the lexical analyzer.</a:t>
            </a:r>
          </a:p>
          <a:p>
            <a:pPr>
              <a:spcAft>
                <a:spcPts val="1000"/>
              </a:spcAft>
              <a:defRPr sz="1550">
                <a:solidFill>
                  <a:srgbClr val="ECF2F9"/>
                </a:solidFill>
              </a:defRPr>
            </a:pPr>
            <a:r>
              <a:t>Implement syntax validation for the defined grammar.</a:t>
            </a:r>
          </a:p>
          <a:p>
            <a:pPr>
              <a:spcAft>
                <a:spcPts val="1000"/>
              </a:spcAft>
              <a:defRPr sz="1550">
                <a:solidFill>
                  <a:srgbClr val="ECF2F9"/>
                </a:solidFill>
              </a:defRPr>
            </a:pPr>
            <a:r>
              <a:t>Implement semantic checks and the symbol table.</a:t>
            </a:r>
          </a:p>
          <a:p>
            <a:pPr>
              <a:spcAft>
                <a:spcPts val="1000"/>
              </a:spcAft>
              <a:defRPr sz="1550">
                <a:solidFill>
                  <a:srgbClr val="ECF2F9"/>
                </a:solidFill>
              </a:defRPr>
            </a:pPr>
            <a:r>
              <a:t>Create the intermediate circuit representation.</a:t>
            </a:r>
          </a:p>
          <a:p>
            <a:pPr>
              <a:spcAft>
                <a:spcPts val="1000"/>
              </a:spcAft>
              <a:defRPr sz="1550">
                <a:solidFill>
                  <a:srgbClr val="ECF2F9"/>
                </a:solidFill>
              </a:defRPr>
            </a:pPr>
            <a:r>
              <a:t>Connect the compiler engine to a simple web interface.</a:t>
            </a:r>
          </a:p>
          <a:p>
            <a:pPr>
              <a:spcAft>
                <a:spcPts val="1000"/>
              </a:spcAft>
              <a:defRPr sz="1550">
                <a:solidFill>
                  <a:srgbClr val="ECF2F9"/>
                </a:solidFill>
              </a:defRPr>
            </a:pPr>
            <a:r>
              <a:t>Demonstrate valid and invalid DCDL programs with phase-specific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486400"/>
            <a:ext cx="10287000" cy="594360"/>
          </a:xfrm>
          <a:prstGeom prst="roundRect">
            <a:avLst/>
          </a:prstGeom>
          <a:solidFill>
            <a:srgbClr val="121B29"/>
          </a:solidFill>
          <a:ln>
            <a:solidFill>
              <a:srgbClr val="EB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5596128"/>
            <a:ext cx="9957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B6767"/>
                </a:solidFill>
              </a:defRPr>
            </a:pPr>
            <a:r>
              <a:t>STATUS</a:t>
            </a:r>
          </a:p>
          <a:p>
            <a:pPr>
              <a:spcBef>
                <a:spcPts val="500"/>
              </a:spcBef>
              <a:defRPr sz="1000">
                <a:solidFill>
                  <a:srgbClr val="ECF2F9"/>
                </a:solidFill>
              </a:defRPr>
            </a:pPr>
            <a:r>
              <a:t>These are planned deliverables for Review 1. The slides do not claim that these components are already implemented.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C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CF2F9"/>
                </a:solidFill>
              </a:defRPr>
            </a:pPr>
            <a:r>
              <a:t>16. Future Scope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74920" cy="3474720"/>
          </a:xfrm>
          <a:prstGeom prst="roundRect">
            <a:avLst/>
          </a:prstGeom>
          <a:solidFill>
            <a:srgbClr val="121B29"/>
          </a:solidFill>
          <a:ln>
            <a:solidFill>
              <a:srgbClr val="5B9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389888"/>
            <a:ext cx="4745736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97F2"/>
                </a:solidFill>
              </a:defRPr>
            </a:pPr>
            <a:r>
              <a:t>FUTURE SCOPE</a:t>
            </a:r>
          </a:p>
          <a:p>
            <a:pPr>
              <a:spcBef>
                <a:spcPts val="500"/>
              </a:spcBef>
              <a:defRPr sz="1150">
                <a:solidFill>
                  <a:srgbClr val="ECF2F9"/>
                </a:solidFill>
              </a:defRPr>
            </a:pPr>
            <a:r>
              <a:t>• More circuit constructs</a:t>
            </a:r>
            <a:br/>
            <a:r>
              <a:t>• Sequential circuits</a:t>
            </a:r>
            <a:br/>
            <a:r>
              <a:t>• Simulation</a:t>
            </a:r>
            <a:br/>
            <a:r>
              <a:t>• Optimization</a:t>
            </a:r>
            <a:br/>
            <a:r>
              <a:t>• HDL export</a:t>
            </a:r>
            <a:br/>
            <a:r>
              <a:t>• Improved visualization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80160"/>
            <a:ext cx="5257800" cy="3474720"/>
          </a:xfrm>
          <a:prstGeom prst="roundRect">
            <a:avLst/>
          </a:prstGeom>
          <a:solidFill>
            <a:srgbClr val="121B29"/>
          </a:solidFill>
          <a:ln>
            <a:solidFill>
              <a:srgbClr val="4AC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6792" y="1389888"/>
            <a:ext cx="4928616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CFAC"/>
                </a:solidFill>
              </a:defRPr>
            </a:pPr>
            <a:r>
              <a:t>CONCLUSION</a:t>
            </a:r>
          </a:p>
          <a:p>
            <a:pPr>
              <a:spcBef>
                <a:spcPts val="500"/>
              </a:spcBef>
              <a:defRPr sz="1150">
                <a:solidFill>
                  <a:srgbClr val="ECF2F9"/>
                </a:solidFill>
              </a:defRPr>
            </a:pPr>
            <a:r>
              <a:t>The project proposes a compact DSL for basic digital circuits and a compiler pipeline that demonstrates lexical, syntactic and semantic processing in a focused, implementable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52578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CF2F9"/>
                </a:solidFill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282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2C4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